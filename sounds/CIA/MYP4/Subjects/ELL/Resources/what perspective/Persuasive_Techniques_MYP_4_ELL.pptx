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8.svg" ContentType="image/svg+xml"/>
  <Override PartName="/ppt/media/image52.svg" ContentType="image/svg+xml"/>
  <Override PartName="/ppt/media/image56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8288000" cy="10287000"/>
  <p:notesSz cx="6858000" cy="9144000"/>
  <p:embeddedFontLst>
    <p:embeddedFont>
      <p:font typeface="Aloja" panose="02000500000000000000"/>
      <p:regular r:id="rId38"/>
    </p:embeddedFont>
    <p:embeddedFont>
      <p:font typeface="Quicksand Medium" panose="00000600000000000000"/>
      <p:regular r:id="rId39"/>
    </p:embeddedFont>
    <p:embeddedFont>
      <p:font typeface="Quicksand Bold" panose="00000800000000000000"/>
      <p:bold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font" Target="fonts/font7.fntdata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2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30.svg"/><Relationship Id="rId26" Type="http://schemas.openxmlformats.org/officeDocument/2006/relationships/image" Target="../media/image29.png"/><Relationship Id="rId25" Type="http://schemas.openxmlformats.org/officeDocument/2006/relationships/tags" Target="../tags/tag39.xml"/><Relationship Id="rId24" Type="http://schemas.openxmlformats.org/officeDocument/2006/relationships/image" Target="../media/image28.svg"/><Relationship Id="rId23" Type="http://schemas.openxmlformats.org/officeDocument/2006/relationships/image" Target="../media/image27.png"/><Relationship Id="rId22" Type="http://schemas.openxmlformats.org/officeDocument/2006/relationships/tags" Target="../tags/tag38.xml"/><Relationship Id="rId21" Type="http://schemas.openxmlformats.org/officeDocument/2006/relationships/image" Target="../media/image26.svg"/><Relationship Id="rId20" Type="http://schemas.openxmlformats.org/officeDocument/2006/relationships/image" Target="../media/image25.png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9.png"/><Relationship Id="rId4" Type="http://schemas.openxmlformats.org/officeDocument/2006/relationships/image" Target="../media/image2.svg"/><Relationship Id="rId3" Type="http://schemas.openxmlformats.org/officeDocument/2006/relationships/image" Target="../media/image38.png"/><Relationship Id="rId2" Type="http://schemas.openxmlformats.org/officeDocument/2006/relationships/image" Target="../media/image34.sv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6.svg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svg"/><Relationship Id="rId3" Type="http://schemas.openxmlformats.org/officeDocument/2006/relationships/image" Target="../media/image45.png"/><Relationship Id="rId2" Type="http://schemas.openxmlformats.org/officeDocument/2006/relationships/image" Target="../media/image18.svg"/><Relationship Id="rId1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svg"/><Relationship Id="rId3" Type="http://schemas.openxmlformats.org/officeDocument/2006/relationships/image" Target="../media/image45.png"/><Relationship Id="rId2" Type="http://schemas.openxmlformats.org/officeDocument/2006/relationships/image" Target="../media/image18.svg"/><Relationship Id="rId1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svg"/><Relationship Id="rId3" Type="http://schemas.openxmlformats.org/officeDocument/2006/relationships/image" Target="../media/image46.png"/><Relationship Id="rId2" Type="http://schemas.openxmlformats.org/officeDocument/2006/relationships/image" Target="../media/image18.svg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svg"/><Relationship Id="rId3" Type="http://schemas.openxmlformats.org/officeDocument/2006/relationships/image" Target="../media/image46.png"/><Relationship Id="rId2" Type="http://schemas.openxmlformats.org/officeDocument/2006/relationships/image" Target="../media/image18.svg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9.png"/><Relationship Id="rId4" Type="http://schemas.openxmlformats.org/officeDocument/2006/relationships/image" Target="../media/image34.svg"/><Relationship Id="rId3" Type="http://schemas.openxmlformats.org/officeDocument/2006/relationships/image" Target="../media/image37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9.png"/><Relationship Id="rId2" Type="http://schemas.openxmlformats.org/officeDocument/2006/relationships/image" Target="../media/image2.svg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svg"/><Relationship Id="rId3" Type="http://schemas.openxmlformats.org/officeDocument/2006/relationships/image" Target="../media/image44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30.svg"/><Relationship Id="rId7" Type="http://schemas.openxmlformats.org/officeDocument/2006/relationships/image" Target="../media/image46.png"/><Relationship Id="rId6" Type="http://schemas.openxmlformats.org/officeDocument/2006/relationships/image" Target="../media/image28.svg"/><Relationship Id="rId5" Type="http://schemas.openxmlformats.org/officeDocument/2006/relationships/image" Target="../media/image45.png"/><Relationship Id="rId4" Type="http://schemas.openxmlformats.org/officeDocument/2006/relationships/image" Target="../media/image32.svg"/><Relationship Id="rId3" Type="http://schemas.openxmlformats.org/officeDocument/2006/relationships/image" Target="../media/image50.png"/><Relationship Id="rId2" Type="http://schemas.openxmlformats.org/officeDocument/2006/relationships/image" Target="../media/image16.sv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6.svg"/><Relationship Id="rId17" Type="http://schemas.openxmlformats.org/officeDocument/2006/relationships/image" Target="../media/image55.png"/><Relationship Id="rId16" Type="http://schemas.openxmlformats.org/officeDocument/2006/relationships/image" Target="../media/image20.svg"/><Relationship Id="rId15" Type="http://schemas.openxmlformats.org/officeDocument/2006/relationships/image" Target="../media/image54.png"/><Relationship Id="rId14" Type="http://schemas.openxmlformats.org/officeDocument/2006/relationships/image" Target="../media/image6.svg"/><Relationship Id="rId13" Type="http://schemas.openxmlformats.org/officeDocument/2006/relationships/image" Target="../media/image53.png"/><Relationship Id="rId12" Type="http://schemas.openxmlformats.org/officeDocument/2006/relationships/image" Target="../media/image52.svg"/><Relationship Id="rId11" Type="http://schemas.openxmlformats.org/officeDocument/2006/relationships/image" Target="../media/image51.png"/><Relationship Id="rId10" Type="http://schemas.openxmlformats.org/officeDocument/2006/relationships/image" Target="../media/image48.svg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928644" y="-1871110"/>
            <a:ext cx="20298297" cy="10259867"/>
          </a:xfrm>
          <a:custGeom>
            <a:avLst/>
            <a:gdLst/>
            <a:ahLst/>
            <a:cxnLst/>
            <a:rect l="l" t="t" r="r" b="b"/>
            <a:pathLst>
              <a:path w="20298297" h="10259867">
                <a:moveTo>
                  <a:pt x="20298297" y="0"/>
                </a:moveTo>
                <a:lnTo>
                  <a:pt x="0" y="0"/>
                </a:lnTo>
                <a:lnTo>
                  <a:pt x="0" y="10259866"/>
                </a:lnTo>
                <a:lnTo>
                  <a:pt x="20298297" y="10259866"/>
                </a:lnTo>
                <a:lnTo>
                  <a:pt x="20298297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8225" y="857250"/>
            <a:ext cx="8448510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The Power of Persuasion </a:t>
            </a:r>
            <a:endParaRPr lang="en-US" sz="9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4222811"/>
            <a:ext cx="844851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Using modes of persuasion and rhetorical devices to influence people to agree with your perspective. </a:t>
            </a:r>
            <a:endParaRPr lang="en-US" sz="30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1034730" y="1028700"/>
            <a:ext cx="6224570" cy="8229600"/>
            <a:chOff x="0" y="0"/>
            <a:chExt cx="8299427" cy="10972800"/>
          </a:xfrm>
        </p:grpSpPr>
        <p:sp>
          <p:nvSpPr>
            <p:cNvPr id="6" name="Freeform 6"/>
            <p:cNvSpPr/>
            <p:nvPr/>
          </p:nvSpPr>
          <p:spPr>
            <a:xfrm flipH="1">
              <a:off x="0" y="0"/>
              <a:ext cx="8299427" cy="10972800"/>
            </a:xfrm>
            <a:custGeom>
              <a:avLst/>
              <a:gdLst/>
              <a:ahLst/>
              <a:cxnLst/>
              <a:rect l="l" t="t" r="r" b="b"/>
              <a:pathLst>
                <a:path w="8299427" h="10972800">
                  <a:moveTo>
                    <a:pt x="8299427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8299427" y="10972800"/>
                  </a:lnTo>
                  <a:lnTo>
                    <a:pt x="8299427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483473" y="2893519"/>
              <a:ext cx="1956646" cy="1597335"/>
            </a:xfrm>
            <a:custGeom>
              <a:avLst/>
              <a:gdLst/>
              <a:ahLst/>
              <a:cxnLst/>
              <a:rect l="l" t="t" r="r" b="b"/>
              <a:pathLst>
                <a:path w="1956646" h="1597335">
                  <a:moveTo>
                    <a:pt x="0" y="0"/>
                  </a:moveTo>
                  <a:lnTo>
                    <a:pt x="1956646" y="0"/>
                  </a:lnTo>
                  <a:lnTo>
                    <a:pt x="1956646" y="1597335"/>
                  </a:lnTo>
                  <a:lnTo>
                    <a:pt x="0" y="1597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6837" y="-3714437"/>
            <a:ext cx="9412193" cy="8642104"/>
          </a:xfrm>
          <a:custGeom>
            <a:avLst/>
            <a:gdLst/>
            <a:ahLst/>
            <a:cxnLst/>
            <a:rect l="l" t="t" r="r" b="b"/>
            <a:pathLst>
              <a:path w="9412193" h="8642104">
                <a:moveTo>
                  <a:pt x="0" y="0"/>
                </a:moveTo>
                <a:lnTo>
                  <a:pt x="9412193" y="0"/>
                </a:lnTo>
                <a:lnTo>
                  <a:pt x="9412193" y="8642104"/>
                </a:lnTo>
                <a:lnTo>
                  <a:pt x="0" y="864210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14358">
            <a:off x="12958166" y="7168061"/>
            <a:ext cx="7974951" cy="7322455"/>
          </a:xfrm>
          <a:custGeom>
            <a:avLst/>
            <a:gdLst/>
            <a:ahLst/>
            <a:cxnLst/>
            <a:rect l="l" t="t" r="r" b="b"/>
            <a:pathLst>
              <a:path w="7974951" h="7322455">
                <a:moveTo>
                  <a:pt x="0" y="0"/>
                </a:moveTo>
                <a:lnTo>
                  <a:pt x="7974951" y="0"/>
                </a:lnTo>
                <a:lnTo>
                  <a:pt x="7974951" y="7322454"/>
                </a:lnTo>
                <a:lnTo>
                  <a:pt x="0" y="73224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3518039" y="3615639"/>
            <a:ext cx="2448566" cy="3055723"/>
            <a:chOff x="0" y="0"/>
            <a:chExt cx="3264754" cy="4074297"/>
          </a:xfrm>
        </p:grpSpPr>
        <p:sp>
          <p:nvSpPr>
            <p:cNvPr id="5" name="Freeform 5"/>
            <p:cNvSpPr/>
            <p:nvPr/>
          </p:nvSpPr>
          <p:spPr>
            <a:xfrm>
              <a:off x="626682" y="1139908"/>
              <a:ext cx="2011390" cy="2934389"/>
            </a:xfrm>
            <a:custGeom>
              <a:avLst/>
              <a:gdLst/>
              <a:ahLst/>
              <a:cxnLst/>
              <a:rect l="l" t="t" r="r" b="b"/>
              <a:pathLst>
                <a:path w="2011390" h="2934389">
                  <a:moveTo>
                    <a:pt x="0" y="0"/>
                  </a:moveTo>
                  <a:lnTo>
                    <a:pt x="2011390" y="0"/>
                  </a:lnTo>
                  <a:lnTo>
                    <a:pt x="2011390" y="2934389"/>
                  </a:lnTo>
                  <a:lnTo>
                    <a:pt x="0" y="2934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842900" y="-842900"/>
              <a:ext cx="1578954" cy="3264754"/>
            </a:xfrm>
            <a:custGeom>
              <a:avLst/>
              <a:gdLst/>
              <a:ahLst/>
              <a:cxnLst/>
              <a:rect l="l" t="t" r="r" b="b"/>
              <a:pathLst>
                <a:path w="1578954" h="3264754">
                  <a:moveTo>
                    <a:pt x="0" y="0"/>
                  </a:moveTo>
                  <a:lnTo>
                    <a:pt x="1578954" y="0"/>
                  </a:lnTo>
                  <a:lnTo>
                    <a:pt x="1578954" y="3264754"/>
                  </a:lnTo>
                  <a:lnTo>
                    <a:pt x="0" y="326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566973" y="5290236"/>
            <a:ext cx="815023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 will revise the three modes of persuasion and learn  about the persuasive techniques used to convey each type of appeal. </a:t>
            </a:r>
            <a:endParaRPr lang="en-US" sz="30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66973" y="3501339"/>
            <a:ext cx="815023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Learning Objective: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033125">
            <a:off x="-3711580" y="2526594"/>
            <a:ext cx="12735516" cy="10558900"/>
          </a:xfrm>
          <a:custGeom>
            <a:avLst/>
            <a:gdLst/>
            <a:ahLst/>
            <a:cxnLst/>
            <a:rect l="l" t="t" r="r" b="b"/>
            <a:pathLst>
              <a:path w="12735516" h="10558900">
                <a:moveTo>
                  <a:pt x="0" y="0"/>
                </a:moveTo>
                <a:lnTo>
                  <a:pt x="12735516" y="0"/>
                </a:lnTo>
                <a:lnTo>
                  <a:pt x="12735516" y="10558900"/>
                </a:lnTo>
                <a:lnTo>
                  <a:pt x="0" y="10558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30388" y="1255476"/>
            <a:ext cx="1565933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Thinking about Persuasion...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30388" y="4086455"/>
            <a:ext cx="3914253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Think, Pair, Share 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79405" y="4105505"/>
            <a:ext cx="8279895" cy="376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Where is persuasion used?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</a:t>
            </a: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n what ways might people persuade?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How might persuasion differ between types of groups/individuals?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Why is it important to learn about the techniques of persuasion in English class?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Freeform 6"/>
          <p:cNvSpPr/>
          <p:nvPr/>
        </p:nvSpPr>
        <p:spPr>
          <a:xfrm rot="2388079">
            <a:off x="14702817" y="-1169106"/>
            <a:ext cx="4573803" cy="3792098"/>
          </a:xfrm>
          <a:custGeom>
            <a:avLst/>
            <a:gdLst/>
            <a:ahLst/>
            <a:cxnLst/>
            <a:rect l="l" t="t" r="r" b="b"/>
            <a:pathLst>
              <a:path w="4573803" h="3792098">
                <a:moveTo>
                  <a:pt x="0" y="0"/>
                </a:moveTo>
                <a:lnTo>
                  <a:pt x="4573803" y="0"/>
                </a:lnTo>
                <a:lnTo>
                  <a:pt x="4573803" y="3792099"/>
                </a:lnTo>
                <a:lnTo>
                  <a:pt x="0" y="37920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30388" y="4943245"/>
            <a:ext cx="6136279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Chat to your partner about the following questions. Be ready to share your answers at the end!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30388" y="6774423"/>
            <a:ext cx="3042610" cy="2483877"/>
          </a:xfrm>
          <a:custGeom>
            <a:avLst/>
            <a:gdLst/>
            <a:ahLst/>
            <a:cxnLst/>
            <a:rect l="l" t="t" r="r" b="b"/>
            <a:pathLst>
              <a:path w="3042610" h="2483877">
                <a:moveTo>
                  <a:pt x="0" y="0"/>
                </a:moveTo>
                <a:lnTo>
                  <a:pt x="3042610" y="0"/>
                </a:lnTo>
                <a:lnTo>
                  <a:pt x="3042610" y="2483877"/>
                </a:lnTo>
                <a:lnTo>
                  <a:pt x="0" y="2483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39316"/>
            <a:ext cx="9017384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Introduction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756409"/>
            <a:ext cx="9017384" cy="627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Persuasion can be found in all kinds of texts such as advertisements, media articles, political speeches, propaganda, opinion columns, podcasts, open letters and so much more!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Persuasion is also evident in every day social interactions, as in situations where your teacher persuades you to study for a test, a friend tries to persuade you to come with them to an event or a sibling tries to persuade you to lend them some money.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knowledge you develop of modes of persuasion can be used in many situations, not just the English classroom.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4" name="Freeform 4"/>
          <p:cNvSpPr/>
          <p:nvPr/>
        </p:nvSpPr>
        <p:spPr>
          <a:xfrm rot="-4563953" flipH="1" flipV="1">
            <a:off x="6250542" y="-370071"/>
            <a:ext cx="19980504" cy="10099237"/>
          </a:xfrm>
          <a:custGeom>
            <a:avLst/>
            <a:gdLst/>
            <a:ahLst/>
            <a:cxnLst/>
            <a:rect l="l" t="t" r="r" b="b"/>
            <a:pathLst>
              <a:path w="19980504" h="10099237">
                <a:moveTo>
                  <a:pt x="19980504" y="10099237"/>
                </a:moveTo>
                <a:lnTo>
                  <a:pt x="0" y="10099237"/>
                </a:lnTo>
                <a:lnTo>
                  <a:pt x="0" y="0"/>
                </a:lnTo>
                <a:lnTo>
                  <a:pt x="19980504" y="0"/>
                </a:lnTo>
                <a:lnTo>
                  <a:pt x="19980504" y="1009923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39036" y="4196525"/>
            <a:ext cx="4520264" cy="4836859"/>
          </a:xfrm>
          <a:custGeom>
            <a:avLst/>
            <a:gdLst/>
            <a:ahLst/>
            <a:cxnLst/>
            <a:rect l="l" t="t" r="r" b="b"/>
            <a:pathLst>
              <a:path w="4520264" h="4836859">
                <a:moveTo>
                  <a:pt x="0" y="0"/>
                </a:moveTo>
                <a:lnTo>
                  <a:pt x="4520264" y="0"/>
                </a:lnTo>
                <a:lnTo>
                  <a:pt x="4520264" y="4836859"/>
                </a:lnTo>
                <a:lnTo>
                  <a:pt x="0" y="483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>
            <p:custDataLst>
              <p:tags r:id="rId1"/>
            </p:custDataLst>
          </p:nvPr>
        </p:nvGrpSpPr>
        <p:grpSpPr>
          <a:xfrm rot="0">
            <a:off x="1865888" y="4440353"/>
            <a:ext cx="4554038" cy="4817947"/>
            <a:chOff x="0" y="0"/>
            <a:chExt cx="3525957" cy="3730288"/>
          </a:xfrm>
        </p:grpSpPr>
        <p:sp>
          <p:nvSpPr>
            <p:cNvPr id="3" name="Freeform 3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3525957" cy="3730288"/>
            </a:xfrm>
            <a:custGeom>
              <a:avLst/>
              <a:gdLst/>
              <a:ahLst/>
              <a:cxnLst/>
              <a:rect l="l" t="t" r="r" b="b"/>
              <a:pathLst>
                <a:path w="3525957" h="3730288">
                  <a:moveTo>
                    <a:pt x="3401497" y="3730288"/>
                  </a:moveTo>
                  <a:lnTo>
                    <a:pt x="124460" y="3730288"/>
                  </a:lnTo>
                  <a:cubicBezTo>
                    <a:pt x="55880" y="3730288"/>
                    <a:pt x="0" y="3674408"/>
                    <a:pt x="0" y="360582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605828"/>
                  </a:lnTo>
                  <a:cubicBezTo>
                    <a:pt x="3525957" y="3674408"/>
                    <a:pt x="3470077" y="3730288"/>
                    <a:pt x="3401497" y="3730288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2236348" y="5488870"/>
            <a:ext cx="3795665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</a:pPr>
            <a:r>
              <a:rPr lang="en-US" sz="24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What outside factors have influenced you?</a:t>
            </a:r>
            <a:endParaRPr lang="en-US" sz="24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5" name="Freeform 5"/>
          <p:cNvSpPr/>
          <p:nvPr>
            <p:custDataLst>
              <p:tags r:id="rId4"/>
            </p:custDataLst>
          </p:nvPr>
        </p:nvSpPr>
        <p:spPr>
          <a:xfrm>
            <a:off x="2831025" y="3906187"/>
            <a:ext cx="2627191" cy="1068333"/>
          </a:xfrm>
          <a:custGeom>
            <a:avLst/>
            <a:gdLst/>
            <a:ahLst/>
            <a:cxnLst/>
            <a:rect l="l" t="t" r="r" b="b"/>
            <a:pathLst>
              <a:path w="2627191" h="1068333">
                <a:moveTo>
                  <a:pt x="0" y="0"/>
                </a:moveTo>
                <a:lnTo>
                  <a:pt x="2627191" y="0"/>
                </a:lnTo>
                <a:lnTo>
                  <a:pt x="2627191" y="1068333"/>
                </a:lnTo>
                <a:lnTo>
                  <a:pt x="0" y="1068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>
            <p:custDataLst>
              <p:tags r:id="rId7"/>
            </p:custDataLst>
          </p:nvPr>
        </p:nvSpPr>
        <p:spPr>
          <a:xfrm>
            <a:off x="2205025" y="4082023"/>
            <a:ext cx="3879192" cy="50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5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Context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grpSp>
        <p:nvGrpSpPr>
          <p:cNvPr id="7" name="Group 7"/>
          <p:cNvGrpSpPr/>
          <p:nvPr>
            <p:custDataLst>
              <p:tags r:id="rId8"/>
            </p:custDataLst>
          </p:nvPr>
        </p:nvGrpSpPr>
        <p:grpSpPr>
          <a:xfrm rot="0">
            <a:off x="6866981" y="4440353"/>
            <a:ext cx="4554038" cy="4817947"/>
            <a:chOff x="0" y="0"/>
            <a:chExt cx="3525957" cy="3730288"/>
          </a:xfrm>
        </p:grpSpPr>
        <p:sp>
          <p:nvSpPr>
            <p:cNvPr id="8" name="Freeform 8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3525957" cy="3730288"/>
            </a:xfrm>
            <a:custGeom>
              <a:avLst/>
              <a:gdLst/>
              <a:ahLst/>
              <a:cxnLst/>
              <a:rect l="l" t="t" r="r" b="b"/>
              <a:pathLst>
                <a:path w="3525957" h="3730288">
                  <a:moveTo>
                    <a:pt x="3401497" y="3730288"/>
                  </a:moveTo>
                  <a:lnTo>
                    <a:pt x="124460" y="3730288"/>
                  </a:lnTo>
                  <a:cubicBezTo>
                    <a:pt x="55880" y="3730288"/>
                    <a:pt x="0" y="3674408"/>
                    <a:pt x="0" y="360582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605828"/>
                  </a:lnTo>
                  <a:cubicBezTo>
                    <a:pt x="3525957" y="3674408"/>
                    <a:pt x="3470077" y="3730288"/>
                    <a:pt x="3401497" y="3730288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grpSp>
        <p:nvGrpSpPr>
          <p:cNvPr id="9" name="Group 9"/>
          <p:cNvGrpSpPr/>
          <p:nvPr>
            <p:custDataLst>
              <p:tags r:id="rId10"/>
            </p:custDataLst>
          </p:nvPr>
        </p:nvGrpSpPr>
        <p:grpSpPr>
          <a:xfrm rot="0">
            <a:off x="11868075" y="4440353"/>
            <a:ext cx="4554038" cy="4817947"/>
            <a:chOff x="0" y="0"/>
            <a:chExt cx="3525957" cy="3730288"/>
          </a:xfrm>
        </p:grpSpPr>
        <p:sp>
          <p:nvSpPr>
            <p:cNvPr id="10" name="Freeform 1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3525957" cy="3730288"/>
            </a:xfrm>
            <a:custGeom>
              <a:avLst/>
              <a:gdLst/>
              <a:ahLst/>
              <a:cxnLst/>
              <a:rect l="l" t="t" r="r" b="b"/>
              <a:pathLst>
                <a:path w="3525957" h="3730288">
                  <a:moveTo>
                    <a:pt x="3401497" y="3730288"/>
                  </a:moveTo>
                  <a:lnTo>
                    <a:pt x="124460" y="3730288"/>
                  </a:lnTo>
                  <a:cubicBezTo>
                    <a:pt x="55880" y="3730288"/>
                    <a:pt x="0" y="3674408"/>
                    <a:pt x="0" y="360582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605828"/>
                  </a:lnTo>
                  <a:cubicBezTo>
                    <a:pt x="3525957" y="3674408"/>
                    <a:pt x="3470077" y="3730288"/>
                    <a:pt x="3401497" y="3730288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865888" y="914868"/>
            <a:ext cx="1455622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Context, Purpose &amp; Audience 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65888" y="2476968"/>
            <a:ext cx="1455622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key to being a successful persuader lies in shaping your language and  structure around the following: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13" name="Freeform 13"/>
          <p:cNvSpPr/>
          <p:nvPr>
            <p:custDataLst>
              <p:tags r:id="rId12"/>
            </p:custDataLst>
          </p:nvPr>
        </p:nvSpPr>
        <p:spPr>
          <a:xfrm>
            <a:off x="7825646" y="3906187"/>
            <a:ext cx="2627191" cy="1068333"/>
          </a:xfrm>
          <a:custGeom>
            <a:avLst/>
            <a:gdLst/>
            <a:ahLst/>
            <a:cxnLst/>
            <a:rect l="l" t="t" r="r" b="b"/>
            <a:pathLst>
              <a:path w="2627191" h="1068333">
                <a:moveTo>
                  <a:pt x="0" y="0"/>
                </a:moveTo>
                <a:lnTo>
                  <a:pt x="2627191" y="0"/>
                </a:lnTo>
                <a:lnTo>
                  <a:pt x="2627191" y="1068333"/>
                </a:lnTo>
                <a:lnTo>
                  <a:pt x="0" y="1068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7199646" y="4082023"/>
            <a:ext cx="3879192" cy="50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5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Purpose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15" name="Freeform 15"/>
          <p:cNvSpPr/>
          <p:nvPr>
            <p:custDataLst>
              <p:tags r:id="rId14"/>
            </p:custDataLst>
          </p:nvPr>
        </p:nvSpPr>
        <p:spPr>
          <a:xfrm>
            <a:off x="12829784" y="3906187"/>
            <a:ext cx="2627191" cy="1068333"/>
          </a:xfrm>
          <a:custGeom>
            <a:avLst/>
            <a:gdLst/>
            <a:ahLst/>
            <a:cxnLst/>
            <a:rect l="l" t="t" r="r" b="b"/>
            <a:pathLst>
              <a:path w="2627191" h="1068333">
                <a:moveTo>
                  <a:pt x="0" y="0"/>
                </a:moveTo>
                <a:lnTo>
                  <a:pt x="2627191" y="0"/>
                </a:lnTo>
                <a:lnTo>
                  <a:pt x="2627191" y="1068333"/>
                </a:lnTo>
                <a:lnTo>
                  <a:pt x="0" y="1068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12203783" y="4082023"/>
            <a:ext cx="3879192" cy="50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5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Audience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7189205" y="5488870"/>
            <a:ext cx="383742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</a:pPr>
            <a:r>
              <a:rPr lang="en-US" sz="24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What is the reason for the text? </a:t>
            </a:r>
            <a:endParaRPr lang="en-US" sz="24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12214224" y="5488870"/>
            <a:ext cx="383742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</a:pPr>
            <a:r>
              <a:rPr lang="en-US" sz="24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Who is meant to read it or view it?</a:t>
            </a:r>
            <a:endParaRPr lang="en-US" sz="24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2236348" y="6741537"/>
            <a:ext cx="3795665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Consider where &amp; when it will be published, the author or speaker's background and any events which may have inspired it. </a:t>
            </a:r>
            <a:endParaRPr lang="en-US" sz="24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7189470" y="6830060"/>
            <a:ext cx="3876040" cy="19697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To persuade of course but consider your main argument and what you want your audience to think, feel or do.</a:t>
            </a:r>
            <a:endParaRPr lang="en-US" sz="24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12214224" y="6830277"/>
            <a:ext cx="3837428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Consider age, gender, socioeconomic status, ethnicity, education level, hobbies and interests, location etc.</a:t>
            </a:r>
            <a:endParaRPr lang="en-US" sz="24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23448" flipH="1">
            <a:off x="-4980953" y="1137860"/>
            <a:ext cx="16293295" cy="8235520"/>
          </a:xfrm>
          <a:custGeom>
            <a:avLst/>
            <a:gdLst/>
            <a:ahLst/>
            <a:cxnLst/>
            <a:rect l="l" t="t" r="r" b="b"/>
            <a:pathLst>
              <a:path w="16293295" h="8235520">
                <a:moveTo>
                  <a:pt x="16293295" y="0"/>
                </a:moveTo>
                <a:lnTo>
                  <a:pt x="0" y="0"/>
                </a:lnTo>
                <a:lnTo>
                  <a:pt x="0" y="8235520"/>
                </a:lnTo>
                <a:lnTo>
                  <a:pt x="16293295" y="8235520"/>
                </a:lnTo>
                <a:lnTo>
                  <a:pt x="16293295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655615"/>
            <a:ext cx="4459224" cy="4610100"/>
          </a:xfrm>
          <a:custGeom>
            <a:avLst/>
            <a:gdLst/>
            <a:ahLst/>
            <a:cxnLst/>
            <a:rect l="l" t="t" r="r" b="b"/>
            <a:pathLst>
              <a:path w="4459224" h="4610100">
                <a:moveTo>
                  <a:pt x="0" y="0"/>
                </a:moveTo>
                <a:lnTo>
                  <a:pt x="4459224" y="0"/>
                </a:lnTo>
                <a:lnTo>
                  <a:pt x="4459224" y="4610100"/>
                </a:lnTo>
                <a:lnTo>
                  <a:pt x="0" y="4610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24794" y="1906985"/>
            <a:ext cx="933450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Some History 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924794" y="3665140"/>
            <a:ext cx="9334506" cy="46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Aristotle was a Greek philosopher who lived between 384-322 b.c.e. He was the student of another well-known philosopher named Plato.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His writings covered many subjects but one of his most significant discoveries was the formation of persuasive speaking.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Aristotle's rhetoric proposes that the art of persuasion consists of three basic kinds of appeals. These are timeless and still used today.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0240" y="1075312"/>
            <a:ext cx="1622906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Modes of Persuasion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1865888" y="4660747"/>
            <a:ext cx="4554038" cy="4597553"/>
            <a:chOff x="0" y="0"/>
            <a:chExt cx="3525957" cy="3559648"/>
          </a:xfrm>
        </p:grpSpPr>
        <p:sp>
          <p:nvSpPr>
            <p:cNvPr id="4" name="Freeform 4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3525957" cy="3559649"/>
            </a:xfrm>
            <a:custGeom>
              <a:avLst/>
              <a:gdLst/>
              <a:ahLst/>
              <a:cxnLst/>
              <a:rect l="l" t="t" r="r" b="b"/>
              <a:pathLst>
                <a:path w="3525957" h="3559649">
                  <a:moveTo>
                    <a:pt x="3401497" y="3559648"/>
                  </a:moveTo>
                  <a:lnTo>
                    <a:pt x="124460" y="3559648"/>
                  </a:lnTo>
                  <a:cubicBezTo>
                    <a:pt x="55880" y="3559648"/>
                    <a:pt x="0" y="3503768"/>
                    <a:pt x="0" y="34351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435189"/>
                  </a:lnTo>
                  <a:cubicBezTo>
                    <a:pt x="3525957" y="3503768"/>
                    <a:pt x="3470077" y="3559649"/>
                    <a:pt x="3401497" y="3559649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1865630" y="5690235"/>
            <a:ext cx="4598670" cy="5372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Logos</a:t>
            </a:r>
            <a:endParaRPr lang="en-US" sz="30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grpSp>
        <p:nvGrpSpPr>
          <p:cNvPr id="6" name="Group 6"/>
          <p:cNvGrpSpPr/>
          <p:nvPr>
            <p:custDataLst>
              <p:tags r:id="rId4"/>
            </p:custDataLst>
          </p:nvPr>
        </p:nvGrpSpPr>
        <p:grpSpPr>
          <a:xfrm rot="0">
            <a:off x="6866981" y="4660747"/>
            <a:ext cx="4554038" cy="4597553"/>
            <a:chOff x="0" y="0"/>
            <a:chExt cx="3525957" cy="3559648"/>
          </a:xfrm>
        </p:grpSpPr>
        <p:sp>
          <p:nvSpPr>
            <p:cNvPr id="7" name="Freeform 7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525957" cy="3559649"/>
            </a:xfrm>
            <a:custGeom>
              <a:avLst/>
              <a:gdLst/>
              <a:ahLst/>
              <a:cxnLst/>
              <a:rect l="l" t="t" r="r" b="b"/>
              <a:pathLst>
                <a:path w="3525957" h="3559649">
                  <a:moveTo>
                    <a:pt x="3401497" y="3559648"/>
                  </a:moveTo>
                  <a:lnTo>
                    <a:pt x="124460" y="3559648"/>
                  </a:lnTo>
                  <a:cubicBezTo>
                    <a:pt x="55880" y="3559648"/>
                    <a:pt x="0" y="3503768"/>
                    <a:pt x="0" y="34351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435189"/>
                  </a:lnTo>
                  <a:cubicBezTo>
                    <a:pt x="3525957" y="3503768"/>
                    <a:pt x="3470077" y="3559649"/>
                    <a:pt x="3401497" y="3559649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grpSp>
        <p:nvGrpSpPr>
          <p:cNvPr id="8" name="Group 8"/>
          <p:cNvGrpSpPr/>
          <p:nvPr>
            <p:custDataLst>
              <p:tags r:id="rId6"/>
            </p:custDataLst>
          </p:nvPr>
        </p:nvGrpSpPr>
        <p:grpSpPr>
          <a:xfrm rot="0">
            <a:off x="11868075" y="4660747"/>
            <a:ext cx="4554038" cy="4597553"/>
            <a:chOff x="0" y="0"/>
            <a:chExt cx="3525957" cy="3559648"/>
          </a:xfrm>
        </p:grpSpPr>
        <p:sp>
          <p:nvSpPr>
            <p:cNvPr id="9" name="Freeform 9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3525957" cy="3559649"/>
            </a:xfrm>
            <a:custGeom>
              <a:avLst/>
              <a:gdLst/>
              <a:ahLst/>
              <a:cxnLst/>
              <a:rect l="l" t="t" r="r" b="b"/>
              <a:pathLst>
                <a:path w="3525957" h="3559649">
                  <a:moveTo>
                    <a:pt x="3401497" y="3559648"/>
                  </a:moveTo>
                  <a:lnTo>
                    <a:pt x="124460" y="3559648"/>
                  </a:lnTo>
                  <a:cubicBezTo>
                    <a:pt x="55880" y="3559648"/>
                    <a:pt x="0" y="3503768"/>
                    <a:pt x="0" y="34351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3435189"/>
                  </a:lnTo>
                  <a:cubicBezTo>
                    <a:pt x="3525957" y="3503768"/>
                    <a:pt x="3470077" y="3559649"/>
                    <a:pt x="3401497" y="3559649"/>
                  </a:cubicBezTo>
                  <a:close/>
                </a:path>
              </a:pathLst>
            </a:custGeom>
            <a:solidFill>
              <a:srgbClr val="FFECF4"/>
            </a:solidFill>
          </p:spPr>
        </p:sp>
      </p:grpSp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6866981" y="5689954"/>
            <a:ext cx="458005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Ethos</a:t>
            </a:r>
            <a:endParaRPr lang="en-US" sz="30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11842055" y="5689954"/>
            <a:ext cx="458005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Pathos</a:t>
            </a:r>
            <a:endParaRPr lang="en-US" sz="30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grpSp>
        <p:nvGrpSpPr>
          <p:cNvPr id="12" name="Group 12"/>
          <p:cNvGrpSpPr/>
          <p:nvPr>
            <p:custDataLst>
              <p:tags r:id="rId10"/>
            </p:custDataLst>
          </p:nvPr>
        </p:nvGrpSpPr>
        <p:grpSpPr>
          <a:xfrm rot="0">
            <a:off x="3523275" y="4041116"/>
            <a:ext cx="1239263" cy="1239263"/>
            <a:chOff x="0" y="0"/>
            <a:chExt cx="6350000" cy="6350000"/>
          </a:xfrm>
        </p:grpSpPr>
        <p:sp>
          <p:nvSpPr>
            <p:cNvPr id="13" name="Freeform 13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AB885"/>
            </a:solidFill>
          </p:spPr>
        </p:sp>
      </p:grpSp>
      <p:sp>
        <p:nvSpPr>
          <p:cNvPr id="14" name="TextBox 14"/>
          <p:cNvSpPr txBox="1"/>
          <p:nvPr>
            <p:custDataLst>
              <p:tags r:id="rId12"/>
            </p:custDataLst>
          </p:nvPr>
        </p:nvSpPr>
        <p:spPr>
          <a:xfrm>
            <a:off x="3523275" y="3880406"/>
            <a:ext cx="1239263" cy="123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420"/>
              </a:lnSpc>
              <a:spcBef>
                <a:spcPct val="0"/>
              </a:spcBef>
            </a:pPr>
            <a:r>
              <a:rPr lang="en-US" sz="6000" u="none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1</a:t>
            </a:r>
            <a:endParaRPr lang="en-US" sz="6000" u="none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grpSp>
        <p:nvGrpSpPr>
          <p:cNvPr id="15" name="Group 15"/>
          <p:cNvGrpSpPr/>
          <p:nvPr>
            <p:custDataLst>
              <p:tags r:id="rId13"/>
            </p:custDataLst>
          </p:nvPr>
        </p:nvGrpSpPr>
        <p:grpSpPr>
          <a:xfrm rot="0">
            <a:off x="8524368" y="3985327"/>
            <a:ext cx="1239263" cy="1239263"/>
            <a:chOff x="0" y="0"/>
            <a:chExt cx="6350000" cy="6350000"/>
          </a:xfrm>
        </p:grpSpPr>
        <p:sp>
          <p:nvSpPr>
            <p:cNvPr id="16" name="Freeform 16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AB885"/>
            </a:solidFill>
          </p:spPr>
        </p:sp>
      </p:grpSp>
      <p:sp>
        <p:nvSpPr>
          <p:cNvPr id="17" name="TextBox 17"/>
          <p:cNvSpPr txBox="1"/>
          <p:nvPr>
            <p:custDataLst>
              <p:tags r:id="rId15"/>
            </p:custDataLst>
          </p:nvPr>
        </p:nvSpPr>
        <p:spPr>
          <a:xfrm>
            <a:off x="8524368" y="3824618"/>
            <a:ext cx="1239263" cy="123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420"/>
              </a:lnSpc>
              <a:spcBef>
                <a:spcPct val="0"/>
              </a:spcBef>
            </a:pPr>
            <a:r>
              <a:rPr lang="en-US" sz="6000" u="none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2</a:t>
            </a:r>
            <a:endParaRPr lang="en-US" sz="6000" u="none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grpSp>
        <p:nvGrpSpPr>
          <p:cNvPr id="18" name="Group 18"/>
          <p:cNvGrpSpPr/>
          <p:nvPr>
            <p:custDataLst>
              <p:tags r:id="rId16"/>
            </p:custDataLst>
          </p:nvPr>
        </p:nvGrpSpPr>
        <p:grpSpPr>
          <a:xfrm rot="0">
            <a:off x="13525462" y="4041116"/>
            <a:ext cx="1239263" cy="1239263"/>
            <a:chOff x="0" y="0"/>
            <a:chExt cx="6350000" cy="6350000"/>
          </a:xfrm>
        </p:grpSpPr>
        <p:sp>
          <p:nvSpPr>
            <p:cNvPr id="19" name="Freeform 19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AB885"/>
            </a:solidFill>
          </p:spPr>
        </p:sp>
      </p:grpSp>
      <p:sp>
        <p:nvSpPr>
          <p:cNvPr id="20" name="TextBox 20"/>
          <p:cNvSpPr txBox="1"/>
          <p:nvPr>
            <p:custDataLst>
              <p:tags r:id="rId18"/>
            </p:custDataLst>
          </p:nvPr>
        </p:nvSpPr>
        <p:spPr>
          <a:xfrm>
            <a:off x="13525462" y="3880406"/>
            <a:ext cx="1239263" cy="1232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420"/>
              </a:lnSpc>
              <a:spcBef>
                <a:spcPct val="0"/>
              </a:spcBef>
            </a:pPr>
            <a:r>
              <a:rPr lang="en-US" sz="6000" u="none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3</a:t>
            </a:r>
            <a:endParaRPr lang="en-US" sz="6000" u="none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21" name="Freeform 21"/>
          <p:cNvSpPr/>
          <p:nvPr>
            <p:custDataLst>
              <p:tags r:id="rId19"/>
            </p:custDataLst>
          </p:nvPr>
        </p:nvSpPr>
        <p:spPr>
          <a:xfrm rot="-892800">
            <a:off x="2903829" y="6800329"/>
            <a:ext cx="2478156" cy="2176272"/>
          </a:xfrm>
          <a:custGeom>
            <a:avLst/>
            <a:gdLst/>
            <a:ahLst/>
            <a:cxnLst/>
            <a:rect l="l" t="t" r="r" b="b"/>
            <a:pathLst>
              <a:path w="2478156" h="2176272">
                <a:moveTo>
                  <a:pt x="0" y="0"/>
                </a:moveTo>
                <a:lnTo>
                  <a:pt x="2478156" y="0"/>
                </a:lnTo>
                <a:lnTo>
                  <a:pt x="2478156" y="2176271"/>
                </a:lnTo>
                <a:lnTo>
                  <a:pt x="0" y="21762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>
            <p:custDataLst>
              <p:tags r:id="rId22"/>
            </p:custDataLst>
          </p:nvPr>
        </p:nvSpPr>
        <p:spPr>
          <a:xfrm>
            <a:off x="7848997" y="7128229"/>
            <a:ext cx="2616025" cy="1393628"/>
          </a:xfrm>
          <a:custGeom>
            <a:avLst/>
            <a:gdLst/>
            <a:ahLst/>
            <a:cxnLst/>
            <a:rect l="l" t="t" r="r" b="b"/>
            <a:pathLst>
              <a:path w="2616025" h="1393628">
                <a:moveTo>
                  <a:pt x="0" y="0"/>
                </a:moveTo>
                <a:lnTo>
                  <a:pt x="2616026" y="0"/>
                </a:lnTo>
                <a:lnTo>
                  <a:pt x="2616026" y="1393628"/>
                </a:lnTo>
                <a:lnTo>
                  <a:pt x="0" y="139362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>
            <p:custDataLst>
              <p:tags r:id="rId25"/>
            </p:custDataLst>
          </p:nvPr>
        </p:nvSpPr>
        <p:spPr>
          <a:xfrm>
            <a:off x="13325793" y="6518629"/>
            <a:ext cx="1638601" cy="2299057"/>
          </a:xfrm>
          <a:custGeom>
            <a:avLst/>
            <a:gdLst/>
            <a:ahLst/>
            <a:cxnLst/>
            <a:rect l="l" t="t" r="r" b="b"/>
            <a:pathLst>
              <a:path w="1638601" h="2299057">
                <a:moveTo>
                  <a:pt x="0" y="0"/>
                </a:moveTo>
                <a:lnTo>
                  <a:pt x="1638601" y="0"/>
                </a:lnTo>
                <a:lnTo>
                  <a:pt x="1638601" y="2299057"/>
                </a:lnTo>
                <a:lnTo>
                  <a:pt x="0" y="229905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65630" y="2734310"/>
            <a:ext cx="14436090" cy="10820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three main ways to persuade are: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92800">
            <a:off x="1513534" y="2925692"/>
            <a:ext cx="5050908" cy="4435616"/>
          </a:xfrm>
          <a:custGeom>
            <a:avLst/>
            <a:gdLst/>
            <a:ahLst/>
            <a:cxnLst/>
            <a:rect l="l" t="t" r="r" b="b"/>
            <a:pathLst>
              <a:path w="5050908" h="4435616">
                <a:moveTo>
                  <a:pt x="0" y="0"/>
                </a:moveTo>
                <a:lnTo>
                  <a:pt x="5050908" y="0"/>
                </a:lnTo>
                <a:lnTo>
                  <a:pt x="5050908" y="4435616"/>
                </a:lnTo>
                <a:lnTo>
                  <a:pt x="0" y="4435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683915" y="5775150"/>
            <a:ext cx="5509154" cy="118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0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Logos is the Greek word for 'word', 'reason' or 'plan'</a:t>
            </a:r>
            <a:r>
              <a:rPr lang="en-US" sz="32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 </a:t>
            </a:r>
            <a:endParaRPr lang="en-US" sz="32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683915" y="3185971"/>
            <a:ext cx="5509154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Logos</a:t>
            </a:r>
            <a:endParaRPr lang="en-US" sz="8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8309" y="3985670"/>
            <a:ext cx="6740991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writer uses techniques that add proof to their argument to make it seem more credible.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them seem more methodical and precise.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following slides will outline some techniques used to appeal to logos.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518309" y="2510380"/>
            <a:ext cx="674099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Logos is an argument based on facts, evidence and reason.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92800">
            <a:off x="1513534" y="2925692"/>
            <a:ext cx="5050908" cy="4435616"/>
          </a:xfrm>
          <a:custGeom>
            <a:avLst/>
            <a:gdLst/>
            <a:ahLst/>
            <a:cxnLst/>
            <a:rect l="l" t="t" r="r" b="b"/>
            <a:pathLst>
              <a:path w="5050908" h="4435616">
                <a:moveTo>
                  <a:pt x="0" y="0"/>
                </a:moveTo>
                <a:lnTo>
                  <a:pt x="5050908" y="0"/>
                </a:lnTo>
                <a:lnTo>
                  <a:pt x="5050908" y="4435616"/>
                </a:lnTo>
                <a:lnTo>
                  <a:pt x="0" y="4435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8130" y="-2538567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0" y="0"/>
                </a:moveTo>
                <a:lnTo>
                  <a:pt x="13200453" y="0"/>
                </a:lnTo>
                <a:lnTo>
                  <a:pt x="13200453" y="6672229"/>
                </a:lnTo>
                <a:lnTo>
                  <a:pt x="0" y="667222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56846"/>
            <a:ext cx="1000357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Facts &amp; Statistics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4143187"/>
            <a:ext cx="776768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a writer or speaker uses evidence from credible research or surveys.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396657" y="5863927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00306" y="4366966"/>
            <a:ext cx="6658994" cy="4891334"/>
          </a:xfrm>
          <a:custGeom>
            <a:avLst/>
            <a:gdLst/>
            <a:ahLst/>
            <a:cxnLst/>
            <a:rect l="l" t="t" r="r" b="b"/>
            <a:pathLst>
              <a:path w="6658994" h="4891334">
                <a:moveTo>
                  <a:pt x="0" y="0"/>
                </a:moveTo>
                <a:lnTo>
                  <a:pt x="6658994" y="0"/>
                </a:lnTo>
                <a:lnTo>
                  <a:pt x="6658994" y="4891334"/>
                </a:lnTo>
                <a:lnTo>
                  <a:pt x="0" y="4891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593611" y="5500535"/>
            <a:ext cx="509655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85% of Australia's population live in urban areas.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93611" y="6695605"/>
            <a:ext cx="509655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Federal funding for private schools will increase from $5 billion to $7 billion over the next 5 years.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510754"/>
            <a:ext cx="7767680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Facts or statistics make an argument sound scientific and help to give the work credibility so people are more likely to believe the author's argument.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52529">
            <a:off x="-2831359" y="-3587970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713255" flipH="1">
            <a:off x="-5045347" y="4123047"/>
            <a:ext cx="15677489" cy="7924258"/>
          </a:xfrm>
          <a:custGeom>
            <a:avLst/>
            <a:gdLst/>
            <a:ahLst/>
            <a:cxnLst/>
            <a:rect l="l" t="t" r="r" b="b"/>
            <a:pathLst>
              <a:path w="15677489" h="7924258">
                <a:moveTo>
                  <a:pt x="15677488" y="0"/>
                </a:moveTo>
                <a:lnTo>
                  <a:pt x="0" y="0"/>
                </a:lnTo>
                <a:lnTo>
                  <a:pt x="0" y="7924258"/>
                </a:lnTo>
                <a:lnTo>
                  <a:pt x="15677488" y="7924258"/>
                </a:lnTo>
                <a:lnTo>
                  <a:pt x="156774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28700" y="2071146"/>
            <a:ext cx="7301329" cy="5363158"/>
          </a:xfrm>
          <a:custGeom>
            <a:avLst/>
            <a:gdLst/>
            <a:ahLst/>
            <a:cxnLst/>
            <a:rect l="l" t="t" r="r" b="b"/>
            <a:pathLst>
              <a:path w="7301329" h="5363158">
                <a:moveTo>
                  <a:pt x="7301329" y="0"/>
                </a:moveTo>
                <a:lnTo>
                  <a:pt x="0" y="0"/>
                </a:lnTo>
                <a:lnTo>
                  <a:pt x="0" y="5363158"/>
                </a:lnTo>
                <a:lnTo>
                  <a:pt x="7301329" y="5363158"/>
                </a:lnTo>
                <a:lnTo>
                  <a:pt x="730132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53939" y="1956846"/>
            <a:ext cx="77053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Expert Opinion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72989" y="3719804"/>
            <a:ext cx="7705361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a writer or speaker claims that a respected figure or organisation agrees with them (i.e. a doctor, scientist, psychologist or any other specialist in a particular field)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91197" y="4886617"/>
            <a:ext cx="535193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Professor Howard Ong's extensive research in this area leaves little doubt that the pill boosts our immune system.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53939" y="6043904"/>
            <a:ext cx="770536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It adds weight to an argument as an audience is more likely to think the author is right if they're supported by other experts.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1197" y="2985546"/>
            <a:ext cx="5351938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five time olympic gold medal winner agreed that having a supportive mentor can have a huge impact on your success. 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45337" y="3719886"/>
            <a:ext cx="6658994" cy="4891334"/>
          </a:xfrm>
          <a:custGeom>
            <a:avLst/>
            <a:gdLst/>
            <a:ahLst/>
            <a:cxnLst/>
            <a:rect l="l" t="t" r="r" b="b"/>
            <a:pathLst>
              <a:path w="6658994" h="4891334">
                <a:moveTo>
                  <a:pt x="6658994" y="0"/>
                </a:moveTo>
                <a:lnTo>
                  <a:pt x="0" y="0"/>
                </a:lnTo>
                <a:lnTo>
                  <a:pt x="0" y="4891334"/>
                </a:lnTo>
                <a:lnTo>
                  <a:pt x="6658994" y="4891334"/>
                </a:lnTo>
                <a:lnTo>
                  <a:pt x="6658994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709833">
            <a:off x="13283120" y="-4033368"/>
            <a:ext cx="7242422" cy="7176582"/>
          </a:xfrm>
          <a:custGeom>
            <a:avLst/>
            <a:gdLst/>
            <a:ahLst/>
            <a:cxnLst/>
            <a:rect l="l" t="t" r="r" b="b"/>
            <a:pathLst>
              <a:path w="7242422" h="7176582">
                <a:moveTo>
                  <a:pt x="0" y="0"/>
                </a:moveTo>
                <a:lnTo>
                  <a:pt x="7242422" y="0"/>
                </a:lnTo>
                <a:lnTo>
                  <a:pt x="7242422" y="7176582"/>
                </a:lnTo>
                <a:lnTo>
                  <a:pt x="0" y="7176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235049">
            <a:off x="5086350" y="7852762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56846"/>
            <a:ext cx="81153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Formal Language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729411"/>
            <a:ext cx="776768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a writer or speaker uses eloquent or sophisticated expression rather than colloquial or 'everyday' language.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644852"/>
            <a:ext cx="776768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It makes the writer sound more educated and professional, making the audience trust their opinions.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71887" y="4870527"/>
            <a:ext cx="487709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 regret to inform you that the delivery will be delayed due to adverse weather conditions.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71887" y="6324005"/>
            <a:ext cx="487709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You are cordially invited to attend the ceremony.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93313" y="6463325"/>
            <a:ext cx="7823021" cy="6199744"/>
          </a:xfrm>
          <a:custGeom>
            <a:avLst/>
            <a:gdLst/>
            <a:ahLst/>
            <a:cxnLst/>
            <a:rect l="l" t="t" r="r" b="b"/>
            <a:pathLst>
              <a:path w="7823021" h="6199744">
                <a:moveTo>
                  <a:pt x="0" y="0"/>
                </a:moveTo>
                <a:lnTo>
                  <a:pt x="7823020" y="0"/>
                </a:lnTo>
                <a:lnTo>
                  <a:pt x="7823020" y="6199744"/>
                </a:lnTo>
                <a:lnTo>
                  <a:pt x="0" y="619974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3904364"/>
            <a:ext cx="7159203" cy="5258760"/>
          </a:xfrm>
          <a:custGeom>
            <a:avLst/>
            <a:gdLst/>
            <a:ahLst/>
            <a:cxnLst/>
            <a:rect l="l" t="t" r="r" b="b"/>
            <a:pathLst>
              <a:path w="7159203" h="5258760">
                <a:moveTo>
                  <a:pt x="7159203" y="0"/>
                </a:moveTo>
                <a:lnTo>
                  <a:pt x="0" y="0"/>
                </a:lnTo>
                <a:lnTo>
                  <a:pt x="0" y="5258759"/>
                </a:lnTo>
                <a:lnTo>
                  <a:pt x="7159203" y="5258759"/>
                </a:lnTo>
                <a:lnTo>
                  <a:pt x="71592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304637">
            <a:off x="-2682172" y="-3815220"/>
            <a:ext cx="8536153" cy="9056926"/>
          </a:xfrm>
          <a:custGeom>
            <a:avLst/>
            <a:gdLst/>
            <a:ahLst/>
            <a:cxnLst/>
            <a:rect l="l" t="t" r="r" b="b"/>
            <a:pathLst>
              <a:path w="8536153" h="9056926">
                <a:moveTo>
                  <a:pt x="0" y="0"/>
                </a:moveTo>
                <a:lnTo>
                  <a:pt x="8536153" y="0"/>
                </a:lnTo>
                <a:lnTo>
                  <a:pt x="8536153" y="9056926"/>
                </a:lnTo>
                <a:lnTo>
                  <a:pt x="0" y="905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491620" y="1956846"/>
            <a:ext cx="776768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Tricolon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91620" y="3913889"/>
            <a:ext cx="776768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an author uses a three part sentence.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91620" y="5153025"/>
            <a:ext cx="776768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It is effective because the human brain seems to more readily process ideas presented in groups of three.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02775" y="5186975"/>
            <a:ext cx="562069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culling of kangaroos is cruel, wasteful and a disgrace to our nation.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02775" y="6463325"/>
            <a:ext cx="562069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 am not a runner, I am not a cyclist and I am not a sportsman of any kind. 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5414425" y="6346708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9"/>
                </a:lnTo>
                <a:lnTo>
                  <a:pt x="13200453" y="6672229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77078"/>
            <a:ext cx="355695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Jargon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953591" y="3886200"/>
            <a:ext cx="7305709" cy="5366376"/>
          </a:xfrm>
          <a:custGeom>
            <a:avLst/>
            <a:gdLst/>
            <a:ahLst/>
            <a:cxnLst/>
            <a:rect l="l" t="t" r="r" b="b"/>
            <a:pathLst>
              <a:path w="7305709" h="5366376">
                <a:moveTo>
                  <a:pt x="0" y="0"/>
                </a:moveTo>
                <a:lnTo>
                  <a:pt x="7305709" y="0"/>
                </a:lnTo>
                <a:lnTo>
                  <a:pt x="7305709" y="5366376"/>
                </a:lnTo>
                <a:lnTo>
                  <a:pt x="0" y="536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895725"/>
            <a:ext cx="776768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a writer or speaker uses subject–specific language to appeal to a particular audience.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953125"/>
            <a:ext cx="776768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language makes them appear an expert or an 'insider' in a particular field.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303641" y="5027496"/>
            <a:ext cx="510525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He dropped in on the barrel smoothly but got totally wiped out by that gnarly wave (surfing jargon).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03641" y="6665796"/>
            <a:ext cx="510525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defendant has pleaded guilty to three counts of aggravated assault (legal jargon).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 rot="8416644">
            <a:off x="13445355" y="-2522103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83915" y="5775150"/>
            <a:ext cx="5509154" cy="1183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0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Ethos is the Greek word for 'character'</a:t>
            </a:r>
            <a:endParaRPr lang="en-US" sz="32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83915" y="3185971"/>
            <a:ext cx="5509154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Ethos</a:t>
            </a:r>
            <a:endParaRPr lang="en-US" sz="8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2327" y="3872569"/>
            <a:ext cx="4771413" cy="2541862"/>
          </a:xfrm>
          <a:custGeom>
            <a:avLst/>
            <a:gdLst/>
            <a:ahLst/>
            <a:cxnLst/>
            <a:rect l="l" t="t" r="r" b="b"/>
            <a:pathLst>
              <a:path w="4771413" h="2541862">
                <a:moveTo>
                  <a:pt x="0" y="0"/>
                </a:moveTo>
                <a:lnTo>
                  <a:pt x="4771414" y="0"/>
                </a:lnTo>
                <a:lnTo>
                  <a:pt x="4771414" y="2541862"/>
                </a:lnTo>
                <a:lnTo>
                  <a:pt x="0" y="2541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8309" y="3928110"/>
            <a:ext cx="6740991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Writers use techniques that make explicit their expertise and authority on a topic.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 writer seem more credible, trustworthy, honest and ethical.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following slides will outline some techniques used to appeal to ethos.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518309" y="2148840"/>
            <a:ext cx="674099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Ethos is an argument based on character.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92327" y="3872569"/>
            <a:ext cx="4771413" cy="2541862"/>
          </a:xfrm>
          <a:custGeom>
            <a:avLst/>
            <a:gdLst/>
            <a:ahLst/>
            <a:cxnLst/>
            <a:rect l="l" t="t" r="r" b="b"/>
            <a:pathLst>
              <a:path w="4771413" h="2541862">
                <a:moveTo>
                  <a:pt x="0" y="0"/>
                </a:moveTo>
                <a:lnTo>
                  <a:pt x="4771414" y="0"/>
                </a:lnTo>
                <a:lnTo>
                  <a:pt x="4771414" y="2541862"/>
                </a:lnTo>
                <a:lnTo>
                  <a:pt x="0" y="2541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8130" y="-2307414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0" y="0"/>
                </a:moveTo>
                <a:lnTo>
                  <a:pt x="13200453" y="0"/>
                </a:lnTo>
                <a:lnTo>
                  <a:pt x="13200453" y="6672228"/>
                </a:lnTo>
                <a:lnTo>
                  <a:pt x="0" y="667222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736340"/>
            <a:ext cx="8892409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author adds a brief personal story to personalise the issue or to illustrate a particular point.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00306" y="3745865"/>
            <a:ext cx="6658994" cy="4891334"/>
          </a:xfrm>
          <a:custGeom>
            <a:avLst/>
            <a:gdLst/>
            <a:ahLst/>
            <a:cxnLst/>
            <a:rect l="l" t="t" r="r" b="b"/>
            <a:pathLst>
              <a:path w="6658994" h="4891334">
                <a:moveTo>
                  <a:pt x="0" y="0"/>
                </a:moveTo>
                <a:lnTo>
                  <a:pt x="6658994" y="0"/>
                </a:lnTo>
                <a:lnTo>
                  <a:pt x="6658994" y="4891334"/>
                </a:lnTo>
                <a:lnTo>
                  <a:pt x="0" y="48913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68960" y="6021258"/>
            <a:ext cx="4877097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Recently, this happened to my daughter first hand as she was riding her bike home from school.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68960" y="4793897"/>
            <a:ext cx="487709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In my local community, I started a recycling awareness program.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679440"/>
            <a:ext cx="8892409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to build a relationship with the audience as well as add credibility as an audience is more likely to trust the author if they believe they've experienced the issue first hand.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329360" y="6533962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956846"/>
            <a:ext cx="1000357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Personal Anecdotes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5110787" y="6937516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8"/>
                </a:lnTo>
                <a:lnTo>
                  <a:pt x="13200453" y="6672228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3710279"/>
            <a:ext cx="7301329" cy="5363158"/>
          </a:xfrm>
          <a:custGeom>
            <a:avLst/>
            <a:gdLst/>
            <a:ahLst/>
            <a:cxnLst/>
            <a:rect l="l" t="t" r="r" b="b"/>
            <a:pathLst>
              <a:path w="7301329" h="5363158">
                <a:moveTo>
                  <a:pt x="7301329" y="0"/>
                </a:moveTo>
                <a:lnTo>
                  <a:pt x="0" y="0"/>
                </a:lnTo>
                <a:lnTo>
                  <a:pt x="0" y="5363159"/>
                </a:lnTo>
                <a:lnTo>
                  <a:pt x="7301329" y="5363159"/>
                </a:lnTo>
                <a:lnTo>
                  <a:pt x="7301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553939" y="1956846"/>
            <a:ext cx="77053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Allusion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53939" y="3700754"/>
            <a:ext cx="7705361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author uses an expression designed to call something to mind without mentioning it explicitly. Allusions can be historical, biblical, literary etc.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9440" y="4862308"/>
            <a:ext cx="6120046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When she lost her job, she acted like a Scrooge, and refused to buy anything that wasn’t necessary.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53939" y="6024854"/>
            <a:ext cx="770536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create credibility by relating to the audience and helping them understand the concept or issue.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9440" y="6557758"/>
            <a:ext cx="6120046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 thought the software would be useful but it was a Trojan Horse.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 rot="9709833">
            <a:off x="-5178904" y="-2740181"/>
            <a:ext cx="7242422" cy="7176582"/>
          </a:xfrm>
          <a:custGeom>
            <a:avLst/>
            <a:gdLst/>
            <a:ahLst/>
            <a:cxnLst/>
            <a:rect l="l" t="t" r="r" b="b"/>
            <a:pathLst>
              <a:path w="7242422" h="7176582">
                <a:moveTo>
                  <a:pt x="0" y="0"/>
                </a:moveTo>
                <a:lnTo>
                  <a:pt x="7242422" y="0"/>
                </a:lnTo>
                <a:lnTo>
                  <a:pt x="7242422" y="7176582"/>
                </a:lnTo>
                <a:lnTo>
                  <a:pt x="0" y="7176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917969">
            <a:off x="13581535" y="5863927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45337" y="3843337"/>
            <a:ext cx="6658994" cy="4891334"/>
          </a:xfrm>
          <a:custGeom>
            <a:avLst/>
            <a:gdLst/>
            <a:ahLst/>
            <a:cxnLst/>
            <a:rect l="l" t="t" r="r" b="b"/>
            <a:pathLst>
              <a:path w="6658994" h="4891334">
                <a:moveTo>
                  <a:pt x="6658994" y="0"/>
                </a:moveTo>
                <a:lnTo>
                  <a:pt x="0" y="0"/>
                </a:lnTo>
                <a:lnTo>
                  <a:pt x="0" y="4891334"/>
                </a:lnTo>
                <a:lnTo>
                  <a:pt x="6658994" y="4891334"/>
                </a:lnTo>
                <a:lnTo>
                  <a:pt x="665899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709833">
            <a:off x="13283120" y="-4033368"/>
            <a:ext cx="7242422" cy="7176582"/>
          </a:xfrm>
          <a:custGeom>
            <a:avLst/>
            <a:gdLst/>
            <a:ahLst/>
            <a:cxnLst/>
            <a:rect l="l" t="t" r="r" b="b"/>
            <a:pathLst>
              <a:path w="7242422" h="7176582">
                <a:moveTo>
                  <a:pt x="0" y="0"/>
                </a:moveTo>
                <a:lnTo>
                  <a:pt x="7242422" y="0"/>
                </a:lnTo>
                <a:lnTo>
                  <a:pt x="7242422" y="7176582"/>
                </a:lnTo>
                <a:lnTo>
                  <a:pt x="0" y="7176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26308"/>
            <a:ext cx="81153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Colloquial Language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833813"/>
            <a:ext cx="776768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uses casual everyday language.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99123" y="4779292"/>
            <a:ext cx="47948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 need to change our 'she'll be right' attitudes and give everyone a fair go.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99123" y="6304129"/>
            <a:ext cx="47948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If we don't stand up for our mates, we can't call ourselves true Australians.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484142"/>
            <a:ext cx="7705361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 author seem down to earth, relatable and realistic in order to establish a relationship with the audience by making them seem on the same level as the everyday person.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6686" y="5797788"/>
            <a:ext cx="6886719" cy="5457725"/>
          </a:xfrm>
          <a:custGeom>
            <a:avLst/>
            <a:gdLst/>
            <a:ahLst/>
            <a:cxnLst/>
            <a:rect l="l" t="t" r="r" b="b"/>
            <a:pathLst>
              <a:path w="6886719" h="5457725">
                <a:moveTo>
                  <a:pt x="0" y="0"/>
                </a:moveTo>
                <a:lnTo>
                  <a:pt x="6886720" y="0"/>
                </a:lnTo>
                <a:lnTo>
                  <a:pt x="6886720" y="5457725"/>
                </a:lnTo>
                <a:lnTo>
                  <a:pt x="0" y="54577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3708897"/>
            <a:ext cx="7554880" cy="5549403"/>
          </a:xfrm>
          <a:custGeom>
            <a:avLst/>
            <a:gdLst/>
            <a:ahLst/>
            <a:cxnLst/>
            <a:rect l="l" t="t" r="r" b="b"/>
            <a:pathLst>
              <a:path w="7554880" h="5549403">
                <a:moveTo>
                  <a:pt x="7554880" y="0"/>
                </a:moveTo>
                <a:lnTo>
                  <a:pt x="0" y="0"/>
                </a:lnTo>
                <a:lnTo>
                  <a:pt x="0" y="5549403"/>
                </a:lnTo>
                <a:lnTo>
                  <a:pt x="7554880" y="5549403"/>
                </a:lnTo>
                <a:lnTo>
                  <a:pt x="75548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32154" y="-3079848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491620" y="1926308"/>
            <a:ext cx="776768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Testimonials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91620" y="3699372"/>
            <a:ext cx="776768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author uses appeals from third parties to build trust with the reader. Third parties might include customers, celebrities, influencers and experts.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32154" y="4638040"/>
            <a:ext cx="5620691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Famous fashion model Marceline Anderson has said she prefers ethical brands such as Happy Heart make up that do not test on animals.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32154" y="6360408"/>
            <a:ext cx="5620691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"I started following the healthy green smoothie recipes 6 months ago and I've lost half my body weight," one excited customer reported.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91620" y="6053462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 author seem reliable and trustworthy by showing that other people respect them or their work.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5414425" y="6346708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9"/>
                </a:lnTo>
                <a:lnTo>
                  <a:pt x="13200453" y="6672229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049492"/>
            <a:ext cx="81153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Listing Credentials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882399"/>
            <a:ext cx="776768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lists their credentials and achievements such as their education level, awards or professional specialities.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6292224"/>
            <a:ext cx="776768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the audience to trust them as they view them as an authority figure on the topic.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953591" y="3891924"/>
            <a:ext cx="7305709" cy="5366376"/>
          </a:xfrm>
          <a:custGeom>
            <a:avLst/>
            <a:gdLst/>
            <a:ahLst/>
            <a:cxnLst/>
            <a:rect l="l" t="t" r="r" b="b"/>
            <a:pathLst>
              <a:path w="7305709" h="5366376">
                <a:moveTo>
                  <a:pt x="0" y="0"/>
                </a:moveTo>
                <a:lnTo>
                  <a:pt x="7305709" y="0"/>
                </a:lnTo>
                <a:lnTo>
                  <a:pt x="7305709" y="5366376"/>
                </a:lnTo>
                <a:lnTo>
                  <a:pt x="0" y="536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160458" y="5127489"/>
            <a:ext cx="529728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I've been a clinical psychologist for the last 30 years.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60458" y="6305296"/>
            <a:ext cx="5297281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As a three time Grammy Award winner, I know first hand how hard work can pay off.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415681" y="-1220421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83915" y="5775150"/>
            <a:ext cx="5509154" cy="1792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0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Pathos is the Greek word for both 'suffering' and 'experience'</a:t>
            </a:r>
            <a:endParaRPr lang="en-US" sz="32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83915" y="3185971"/>
            <a:ext cx="5509154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Pathos</a:t>
            </a:r>
            <a:endParaRPr lang="en-US" sz="8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48326" y="2620968"/>
            <a:ext cx="3595754" cy="5045063"/>
          </a:xfrm>
          <a:custGeom>
            <a:avLst/>
            <a:gdLst/>
            <a:ahLst/>
            <a:cxnLst/>
            <a:rect l="l" t="t" r="r" b="b"/>
            <a:pathLst>
              <a:path w="3595754" h="5045063">
                <a:moveTo>
                  <a:pt x="0" y="0"/>
                </a:moveTo>
                <a:lnTo>
                  <a:pt x="3595754" y="0"/>
                </a:lnTo>
                <a:lnTo>
                  <a:pt x="3595754" y="5045064"/>
                </a:lnTo>
                <a:lnTo>
                  <a:pt x="0" y="5045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8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63445" y="3666313"/>
            <a:ext cx="6795855" cy="461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Writers use techniques that appeal to the audience's emotions such as creating humour, excitement, shock or gaining sympathy. 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 writer seem more personable, relatable, likeable or compassionate.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following slides will outline some techniques used to appeal to pathos.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463445" y="1991537"/>
            <a:ext cx="679585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Bold" panose="00000800000000000000"/>
                <a:ea typeface="Quicksand Bold" panose="00000800000000000000"/>
                <a:cs typeface="Quicksand Bold" panose="00000800000000000000"/>
                <a:sym typeface="Quicksand Bold" panose="00000800000000000000"/>
              </a:rPr>
              <a:t>Pathos is an argument based on feelings.</a:t>
            </a:r>
            <a:endParaRPr lang="en-US" sz="2800" b="1">
              <a:solidFill>
                <a:srgbClr val="000000"/>
              </a:solidFill>
              <a:latin typeface="Quicksand Bold" panose="00000800000000000000"/>
              <a:ea typeface="Quicksand Bold" panose="00000800000000000000"/>
              <a:cs typeface="Quicksand Bold" panose="00000800000000000000"/>
              <a:sym typeface="Quicksand Bold" panose="00000800000000000000"/>
            </a:endParaRPr>
          </a:p>
        </p:txBody>
      </p:sp>
      <p:sp>
        <p:nvSpPr>
          <p:cNvPr id="4" name="Freeform 4"/>
          <p:cNvSpPr/>
          <p:nvPr/>
        </p:nvSpPr>
        <p:spPr>
          <a:xfrm rot="5400000" flipH="1" flipV="1">
            <a:off x="-5051008" y="3806704"/>
            <a:ext cx="19461376" cy="9836841"/>
          </a:xfrm>
          <a:custGeom>
            <a:avLst/>
            <a:gdLst/>
            <a:ahLst/>
            <a:cxnLst/>
            <a:rect l="l" t="t" r="r" b="b"/>
            <a:pathLst>
              <a:path w="19461376" h="9836841">
                <a:moveTo>
                  <a:pt x="19461376" y="9836841"/>
                </a:moveTo>
                <a:lnTo>
                  <a:pt x="0" y="9836841"/>
                </a:lnTo>
                <a:lnTo>
                  <a:pt x="0" y="0"/>
                </a:lnTo>
                <a:lnTo>
                  <a:pt x="19461376" y="0"/>
                </a:lnTo>
                <a:lnTo>
                  <a:pt x="19461376" y="9836841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48326" y="2620968"/>
            <a:ext cx="3595754" cy="5045063"/>
          </a:xfrm>
          <a:custGeom>
            <a:avLst/>
            <a:gdLst/>
            <a:ahLst/>
            <a:cxnLst/>
            <a:rect l="l" t="t" r="r" b="b"/>
            <a:pathLst>
              <a:path w="3595754" h="5045063">
                <a:moveTo>
                  <a:pt x="0" y="0"/>
                </a:moveTo>
                <a:lnTo>
                  <a:pt x="3595754" y="0"/>
                </a:lnTo>
                <a:lnTo>
                  <a:pt x="3595754" y="5045064"/>
                </a:lnTo>
                <a:lnTo>
                  <a:pt x="0" y="5045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8130" y="-2307414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0" y="0"/>
                </a:moveTo>
                <a:lnTo>
                  <a:pt x="13200453" y="0"/>
                </a:lnTo>
                <a:lnTo>
                  <a:pt x="13200453" y="6672228"/>
                </a:lnTo>
                <a:lnTo>
                  <a:pt x="0" y="667222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47750" y="1948315"/>
            <a:ext cx="1000357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Inclusive Language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833360"/>
            <a:ext cx="776768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uses the first person plural words 'we', 'us' and 'our'.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380474" y="3842885"/>
            <a:ext cx="6878826" cy="5052810"/>
          </a:xfrm>
          <a:custGeom>
            <a:avLst/>
            <a:gdLst/>
            <a:ahLst/>
            <a:cxnLst/>
            <a:rect l="l" t="t" r="r" b="b"/>
            <a:pathLst>
              <a:path w="6878826" h="5052810">
                <a:moveTo>
                  <a:pt x="0" y="0"/>
                </a:moveTo>
                <a:lnTo>
                  <a:pt x="6878826" y="0"/>
                </a:lnTo>
                <a:lnTo>
                  <a:pt x="6878826" y="5052810"/>
                </a:lnTo>
                <a:lnTo>
                  <a:pt x="0" y="5052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43763" y="6313336"/>
            <a:ext cx="517885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As students, it's our job to make sure we're self-motivated learners who will rise to the challenges that come with sitting exams.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43763" y="4911216"/>
            <a:ext cx="5178854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 need to act now if we want to preserve the Earth for future generations.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329360" y="6533962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5462135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to create a sense of unity between the author and audience as if they are both on the same side of the argument.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5110787" y="6937516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8"/>
                </a:lnTo>
                <a:lnTo>
                  <a:pt x="13200453" y="6672228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3895142"/>
            <a:ext cx="7301329" cy="5363158"/>
          </a:xfrm>
          <a:custGeom>
            <a:avLst/>
            <a:gdLst/>
            <a:ahLst/>
            <a:cxnLst/>
            <a:rect l="l" t="t" r="r" b="b"/>
            <a:pathLst>
              <a:path w="7301329" h="5363158">
                <a:moveTo>
                  <a:pt x="7301329" y="0"/>
                </a:moveTo>
                <a:lnTo>
                  <a:pt x="0" y="0"/>
                </a:lnTo>
                <a:lnTo>
                  <a:pt x="0" y="5363158"/>
                </a:lnTo>
                <a:lnTo>
                  <a:pt x="7301329" y="5363158"/>
                </a:lnTo>
                <a:lnTo>
                  <a:pt x="730132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553939" y="1948315"/>
            <a:ext cx="77053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Direct Address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73494" y="4990517"/>
            <a:ext cx="5269641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You want to make sure you keep your doors locked so you don't become a victim of burglary.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91620" y="5924550"/>
            <a:ext cx="770536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to create a personal connection with the audience as they feel they are being directly spoken to.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73494" y="6685967"/>
            <a:ext cx="526964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You wouldn't want your children to experience schoolyard bullying either.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91620" y="3885617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uses the second person pronoun 'you', 'your' or 'yourself'.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 rot="-5693828">
            <a:off x="-3946203" y="-1871618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60104" y="6299832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2" y="0"/>
                </a:lnTo>
                <a:lnTo>
                  <a:pt x="6398392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9506511" y="3563524"/>
            <a:ext cx="7752789" cy="5694776"/>
          </a:xfrm>
          <a:custGeom>
            <a:avLst/>
            <a:gdLst/>
            <a:ahLst/>
            <a:cxnLst/>
            <a:rect l="l" t="t" r="r" b="b"/>
            <a:pathLst>
              <a:path w="7752789" h="5694776">
                <a:moveTo>
                  <a:pt x="7752789" y="0"/>
                </a:moveTo>
                <a:lnTo>
                  <a:pt x="0" y="0"/>
                </a:lnTo>
                <a:lnTo>
                  <a:pt x="0" y="5694776"/>
                </a:lnTo>
                <a:lnTo>
                  <a:pt x="7752789" y="5694776"/>
                </a:lnTo>
                <a:lnTo>
                  <a:pt x="77527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709833">
            <a:off x="13283120" y="-4033368"/>
            <a:ext cx="7242422" cy="7176582"/>
          </a:xfrm>
          <a:custGeom>
            <a:avLst/>
            <a:gdLst/>
            <a:ahLst/>
            <a:cxnLst/>
            <a:rect l="l" t="t" r="r" b="b"/>
            <a:pathLst>
              <a:path w="7242422" h="7176582">
                <a:moveTo>
                  <a:pt x="0" y="0"/>
                </a:moveTo>
                <a:lnTo>
                  <a:pt x="7242422" y="0"/>
                </a:lnTo>
                <a:lnTo>
                  <a:pt x="7242422" y="7176582"/>
                </a:lnTo>
                <a:lnTo>
                  <a:pt x="0" y="7176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48315"/>
            <a:ext cx="920590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Figurative Language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728082"/>
            <a:ext cx="776768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author uses words or expressions that make abstract comparisons. Figurative language includes simile, metaphor, personification, metonym, idiom etc.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166482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These create imagery and make abstract ideas concrete to help the reader to understand the topic.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322882" y="4775832"/>
            <a:ext cx="5626263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 chair groaned as if it was about to break in two.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22882" y="6804657"/>
            <a:ext cx="5626263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He glided through the water like a dolphin and won the gold.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22882" y="5956932"/>
            <a:ext cx="562626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summer was hotter than hell.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6686" y="5911576"/>
            <a:ext cx="7714297" cy="6113581"/>
          </a:xfrm>
          <a:custGeom>
            <a:avLst/>
            <a:gdLst/>
            <a:ahLst/>
            <a:cxnLst/>
            <a:rect l="l" t="t" r="r" b="b"/>
            <a:pathLst>
              <a:path w="7714297" h="6113581">
                <a:moveTo>
                  <a:pt x="0" y="0"/>
                </a:moveTo>
                <a:lnTo>
                  <a:pt x="7714298" y="0"/>
                </a:lnTo>
                <a:lnTo>
                  <a:pt x="7714298" y="6113581"/>
                </a:lnTo>
                <a:lnTo>
                  <a:pt x="0" y="611358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3802959"/>
            <a:ext cx="7426826" cy="5455341"/>
          </a:xfrm>
          <a:custGeom>
            <a:avLst/>
            <a:gdLst/>
            <a:ahLst/>
            <a:cxnLst/>
            <a:rect l="l" t="t" r="r" b="b"/>
            <a:pathLst>
              <a:path w="7426826" h="5455341">
                <a:moveTo>
                  <a:pt x="7426826" y="0"/>
                </a:moveTo>
                <a:lnTo>
                  <a:pt x="0" y="0"/>
                </a:lnTo>
                <a:lnTo>
                  <a:pt x="0" y="5455341"/>
                </a:lnTo>
                <a:lnTo>
                  <a:pt x="7426826" y="5455341"/>
                </a:lnTo>
                <a:lnTo>
                  <a:pt x="74268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4039" y="-3394373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2" y="0"/>
                </a:lnTo>
                <a:lnTo>
                  <a:pt x="6398392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491620" y="1948315"/>
            <a:ext cx="776768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Hyperbole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91620" y="3793434"/>
            <a:ext cx="776768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purposefully exaggerates something to heighten the implications of an issue, making the situation appear far worse than it is.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91620" y="6219577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makes the audience view the issue as serious, encouraging them to agree with the author's point of view.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16166" y="5033721"/>
            <a:ext cx="562069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There are a million reasons why the plan just won't work.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16166" y="6246793"/>
            <a:ext cx="562069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It was so cold that I froze into an icicle.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16166" y="7126490"/>
            <a:ext cx="562069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If I don't get an A grade on this test I'll die.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5414425" y="6346708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9"/>
                </a:lnTo>
                <a:lnTo>
                  <a:pt x="13200453" y="6672229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48315"/>
            <a:ext cx="81153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Emotive Language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772239"/>
            <a:ext cx="776768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uses words with strong emotional connotations.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953591" y="3891924"/>
            <a:ext cx="7305709" cy="5366376"/>
          </a:xfrm>
          <a:custGeom>
            <a:avLst/>
            <a:gdLst/>
            <a:ahLst/>
            <a:cxnLst/>
            <a:rect l="l" t="t" r="r" b="b"/>
            <a:pathLst>
              <a:path w="7305709" h="5366376">
                <a:moveTo>
                  <a:pt x="0" y="0"/>
                </a:moveTo>
                <a:lnTo>
                  <a:pt x="7305709" y="0"/>
                </a:lnTo>
                <a:lnTo>
                  <a:pt x="7305709" y="5366376"/>
                </a:lnTo>
                <a:lnTo>
                  <a:pt x="0" y="536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76208" y="5133975"/>
            <a:ext cx="516011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Some poor little puppies are beaten, neglected and starved.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276208" y="6337183"/>
            <a:ext cx="5160119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She was a proud descendant of the brave explorers who endured the rugged terrain to establish a life in the wilderness.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338987"/>
            <a:ext cx="776768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to sway or enhance the emotional response of the audience. It can encourage a range of emotions such as shock, worry, excitement, affection, fear etc.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415681" y="-1440234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5110787" y="6937516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8"/>
                </a:lnTo>
                <a:lnTo>
                  <a:pt x="13200453" y="6672228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628342">
            <a:off x="-2638839" y="-2699153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6"/>
                </a:lnTo>
                <a:lnTo>
                  <a:pt x="0" y="678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28700" y="3721194"/>
            <a:ext cx="7538139" cy="5537106"/>
          </a:xfrm>
          <a:custGeom>
            <a:avLst/>
            <a:gdLst/>
            <a:ahLst/>
            <a:cxnLst/>
            <a:rect l="l" t="t" r="r" b="b"/>
            <a:pathLst>
              <a:path w="7538139" h="5537106">
                <a:moveTo>
                  <a:pt x="7538139" y="0"/>
                </a:moveTo>
                <a:lnTo>
                  <a:pt x="0" y="0"/>
                </a:lnTo>
                <a:lnTo>
                  <a:pt x="0" y="5537106"/>
                </a:lnTo>
                <a:lnTo>
                  <a:pt x="7538139" y="5537106"/>
                </a:lnTo>
                <a:lnTo>
                  <a:pt x="753813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53939" y="1948315"/>
            <a:ext cx="770536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Repetition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553939" y="3711669"/>
            <a:ext cx="770536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purposefully re-uses words or phrases.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53939" y="5217848"/>
            <a:ext cx="7705361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helps to create emphasis and draw our attention. They might do this through anaphora (repetition of a phrase at the start of a clause) or epiphora (repetition of a phrase at the end of a clause).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95298" y="4650738"/>
            <a:ext cx="540166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We're sorry for being messy, we're sorry for being moody and we're sorry for being the 'typical teens' you complain about.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95298" y="6383602"/>
            <a:ext cx="540166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We end up buying so much stuff that we need storage units for the stuff but then we end up having to clear stuff to make room for more stuff!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8130" y="-2307414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0" y="0"/>
                </a:moveTo>
                <a:lnTo>
                  <a:pt x="13200453" y="0"/>
                </a:lnTo>
                <a:lnTo>
                  <a:pt x="13200453" y="6672228"/>
                </a:lnTo>
                <a:lnTo>
                  <a:pt x="0" y="667222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778350"/>
            <a:ext cx="7767680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is when the writer or speaker asks a question that implies its own answer or that the audience is forced to answer themselves.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600306" y="3787875"/>
            <a:ext cx="6658994" cy="4891334"/>
          </a:xfrm>
          <a:custGeom>
            <a:avLst/>
            <a:gdLst/>
            <a:ahLst/>
            <a:cxnLst/>
            <a:rect l="l" t="t" r="r" b="b"/>
            <a:pathLst>
              <a:path w="6658994" h="4891334">
                <a:moveTo>
                  <a:pt x="0" y="0"/>
                </a:moveTo>
                <a:lnTo>
                  <a:pt x="6658994" y="0"/>
                </a:lnTo>
                <a:lnTo>
                  <a:pt x="6658994" y="4891334"/>
                </a:lnTo>
                <a:lnTo>
                  <a:pt x="0" y="48913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68960" y="5915025"/>
            <a:ext cx="4822232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How can we be expected to abandon our cars in favour of public transport when the system is so underfunded?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68960" y="4800600"/>
            <a:ext cx="4822232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Can we really afford to ignore this problem?</a:t>
            </a:r>
            <a:endParaRPr lang="en-US" sz="22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5329360" y="6533962"/>
            <a:ext cx="6398393" cy="6788746"/>
          </a:xfrm>
          <a:custGeom>
            <a:avLst/>
            <a:gdLst/>
            <a:ahLst/>
            <a:cxnLst/>
            <a:rect l="l" t="t" r="r" b="b"/>
            <a:pathLst>
              <a:path w="6398393" h="6788746">
                <a:moveTo>
                  <a:pt x="0" y="0"/>
                </a:moveTo>
                <a:lnTo>
                  <a:pt x="6398393" y="0"/>
                </a:lnTo>
                <a:lnTo>
                  <a:pt x="6398393" y="6788745"/>
                </a:lnTo>
                <a:lnTo>
                  <a:pt x="0" y="67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770310"/>
            <a:ext cx="7767680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This forces the audience to have to make a decision or think about an issue. It will usually deliberately position the audience to have to answer with the author's desired response, thus making them agree with their argument.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948315"/>
            <a:ext cx="1000357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Rhetorical Question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95677"/>
            <a:ext cx="11857636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You now have a wide range of tools in your persuasive tool kit that you can apply when writing or speaking to an audience to persuade them to agree with your perspective. Remember to: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833587" y="3950857"/>
            <a:ext cx="3425713" cy="5307443"/>
          </a:xfrm>
          <a:custGeom>
            <a:avLst/>
            <a:gdLst/>
            <a:ahLst/>
            <a:cxnLst/>
            <a:rect l="l" t="t" r="r" b="b"/>
            <a:pathLst>
              <a:path w="3425713" h="5307443">
                <a:moveTo>
                  <a:pt x="0" y="0"/>
                </a:moveTo>
                <a:lnTo>
                  <a:pt x="3425713" y="0"/>
                </a:lnTo>
                <a:lnTo>
                  <a:pt x="3425713" y="5307443"/>
                </a:lnTo>
                <a:lnTo>
                  <a:pt x="0" y="53074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98305" flipH="1">
            <a:off x="10345094" y="-3266722"/>
            <a:ext cx="13200453" cy="6672229"/>
          </a:xfrm>
          <a:custGeom>
            <a:avLst/>
            <a:gdLst/>
            <a:ahLst/>
            <a:cxnLst/>
            <a:rect l="l" t="t" r="r" b="b"/>
            <a:pathLst>
              <a:path w="13200453" h="6672229">
                <a:moveTo>
                  <a:pt x="13200453" y="0"/>
                </a:moveTo>
                <a:lnTo>
                  <a:pt x="0" y="0"/>
                </a:lnTo>
                <a:lnTo>
                  <a:pt x="0" y="6672229"/>
                </a:lnTo>
                <a:lnTo>
                  <a:pt x="13200453" y="6672229"/>
                </a:lnTo>
                <a:lnTo>
                  <a:pt x="132004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76427"/>
            <a:ext cx="1185763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In Conclusion... </a:t>
            </a:r>
            <a:endParaRPr lang="en-US" sz="60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472123"/>
            <a:ext cx="11857636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Shape your language around your chosen context, purpose and audience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  <a:p>
            <a:pPr marL="604520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Include a range of techniques that cover all three  types of appeals - logos, ethos and pathos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7767648"/>
            <a:ext cx="1185763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00000"/>
                </a:solidFill>
                <a:latin typeface="Quicksand Medium" panose="00000600000000000000"/>
                <a:ea typeface="Quicksand Medium" panose="00000600000000000000"/>
                <a:cs typeface="Quicksand Medium" panose="00000600000000000000"/>
                <a:sym typeface="Quicksand Medium" panose="00000600000000000000"/>
              </a:rPr>
              <a:t>Good luck and get persuading!</a:t>
            </a:r>
            <a:endParaRPr lang="en-US" sz="2800" b="1">
              <a:solidFill>
                <a:srgbClr val="000000"/>
              </a:solidFill>
              <a:latin typeface="Quicksand Medium" panose="00000600000000000000"/>
              <a:ea typeface="Quicksand Medium" panose="00000600000000000000"/>
              <a:cs typeface="Quicksand Medium" panose="00000600000000000000"/>
              <a:sym typeface="Quicksand Medium" panose="0000060000000000000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185763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Aloja" panose="02000500000000000000"/>
                <a:ea typeface="Aloja" panose="02000500000000000000"/>
                <a:cs typeface="Aloja" panose="02000500000000000000"/>
                <a:sym typeface="Aloja" panose="02000500000000000000"/>
              </a:rPr>
              <a:t>Elements Used:</a:t>
            </a:r>
            <a:endParaRPr lang="en-US" sz="6500">
              <a:solidFill>
                <a:srgbClr val="000000"/>
              </a:solidFill>
              <a:latin typeface="Aloja" panose="02000500000000000000"/>
              <a:ea typeface="Aloja" panose="02000500000000000000"/>
              <a:cs typeface="Aloja" panose="02000500000000000000"/>
              <a:sym typeface="Aloja" panose="020005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711513" y="2553759"/>
            <a:ext cx="2547787" cy="2079921"/>
          </a:xfrm>
          <a:custGeom>
            <a:avLst/>
            <a:gdLst/>
            <a:ahLst/>
            <a:cxnLst/>
            <a:rect l="l" t="t" r="r" b="b"/>
            <a:pathLst>
              <a:path w="2547787" h="2079921">
                <a:moveTo>
                  <a:pt x="0" y="0"/>
                </a:moveTo>
                <a:lnTo>
                  <a:pt x="2547787" y="0"/>
                </a:lnTo>
                <a:lnTo>
                  <a:pt x="2547787" y="2079920"/>
                </a:lnTo>
                <a:lnTo>
                  <a:pt x="0" y="207992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9631" y="2607078"/>
            <a:ext cx="2247009" cy="1973282"/>
          </a:xfrm>
          <a:custGeom>
            <a:avLst/>
            <a:gdLst/>
            <a:ahLst/>
            <a:cxnLst/>
            <a:rect l="l" t="t" r="r" b="b"/>
            <a:pathLst>
              <a:path w="2247009" h="1973282">
                <a:moveTo>
                  <a:pt x="0" y="0"/>
                </a:moveTo>
                <a:lnTo>
                  <a:pt x="2247008" y="0"/>
                </a:lnTo>
                <a:lnTo>
                  <a:pt x="2247008" y="1973282"/>
                </a:lnTo>
                <a:lnTo>
                  <a:pt x="0" y="1973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53914" y="2607078"/>
            <a:ext cx="3704113" cy="1973282"/>
          </a:xfrm>
          <a:custGeom>
            <a:avLst/>
            <a:gdLst/>
            <a:ahLst/>
            <a:cxnLst/>
            <a:rect l="l" t="t" r="r" b="b"/>
            <a:pathLst>
              <a:path w="3704113" h="1973282">
                <a:moveTo>
                  <a:pt x="0" y="0"/>
                </a:moveTo>
                <a:lnTo>
                  <a:pt x="3704114" y="0"/>
                </a:lnTo>
                <a:lnTo>
                  <a:pt x="3704114" y="1973282"/>
                </a:lnTo>
                <a:lnTo>
                  <a:pt x="0" y="1973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6448">
            <a:off x="11116007" y="2515096"/>
            <a:ext cx="1537527" cy="2157245"/>
          </a:xfrm>
          <a:custGeom>
            <a:avLst/>
            <a:gdLst/>
            <a:ahLst/>
            <a:cxnLst/>
            <a:rect l="l" t="t" r="r" b="b"/>
            <a:pathLst>
              <a:path w="1537527" h="2157245">
                <a:moveTo>
                  <a:pt x="0" y="0"/>
                </a:moveTo>
                <a:lnTo>
                  <a:pt x="1537527" y="0"/>
                </a:lnTo>
                <a:lnTo>
                  <a:pt x="1537527" y="2157245"/>
                </a:lnTo>
                <a:lnTo>
                  <a:pt x="0" y="21572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87570" y="5266117"/>
            <a:ext cx="2571730" cy="3984371"/>
          </a:xfrm>
          <a:custGeom>
            <a:avLst/>
            <a:gdLst/>
            <a:ahLst/>
            <a:cxnLst/>
            <a:rect l="l" t="t" r="r" b="b"/>
            <a:pathLst>
              <a:path w="2571730" h="3984371">
                <a:moveTo>
                  <a:pt x="0" y="0"/>
                </a:moveTo>
                <a:lnTo>
                  <a:pt x="2571730" y="0"/>
                </a:lnTo>
                <a:lnTo>
                  <a:pt x="2571730" y="3984371"/>
                </a:lnTo>
                <a:lnTo>
                  <a:pt x="0" y="39843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5877290" y="5306378"/>
            <a:ext cx="3013633" cy="3984371"/>
            <a:chOff x="0" y="0"/>
            <a:chExt cx="4018177" cy="5312494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4018177" cy="5312494"/>
            </a:xfrm>
            <a:custGeom>
              <a:avLst/>
              <a:gdLst/>
              <a:ahLst/>
              <a:cxnLst/>
              <a:rect l="l" t="t" r="r" b="b"/>
              <a:pathLst>
                <a:path w="4018177" h="5312494">
                  <a:moveTo>
                    <a:pt x="4018177" y="0"/>
                  </a:moveTo>
                  <a:lnTo>
                    <a:pt x="0" y="0"/>
                  </a:lnTo>
                  <a:lnTo>
                    <a:pt x="0" y="5312494"/>
                  </a:lnTo>
                  <a:lnTo>
                    <a:pt x="4018177" y="5312494"/>
                  </a:lnTo>
                  <a:lnTo>
                    <a:pt x="4018177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686527" y="1400901"/>
              <a:ext cx="947313" cy="773352"/>
            </a:xfrm>
            <a:custGeom>
              <a:avLst/>
              <a:gdLst/>
              <a:ahLst/>
              <a:cxnLst/>
              <a:rect l="l" t="t" r="r" b="b"/>
              <a:pathLst>
                <a:path w="947313" h="773352">
                  <a:moveTo>
                    <a:pt x="0" y="0"/>
                  </a:moveTo>
                  <a:lnTo>
                    <a:pt x="947313" y="0"/>
                  </a:lnTo>
                  <a:lnTo>
                    <a:pt x="947313" y="773351"/>
                  </a:lnTo>
                  <a:lnTo>
                    <a:pt x="0" y="773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941616" y="5306378"/>
            <a:ext cx="3695261" cy="3954073"/>
          </a:xfrm>
          <a:custGeom>
            <a:avLst/>
            <a:gdLst/>
            <a:ahLst/>
            <a:cxnLst/>
            <a:rect l="l" t="t" r="r" b="b"/>
            <a:pathLst>
              <a:path w="3695261" h="3954073">
                <a:moveTo>
                  <a:pt x="0" y="0"/>
                </a:moveTo>
                <a:lnTo>
                  <a:pt x="3695261" y="0"/>
                </a:lnTo>
                <a:lnTo>
                  <a:pt x="3695261" y="3954073"/>
                </a:lnTo>
                <a:lnTo>
                  <a:pt x="0" y="39540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9631" y="5306378"/>
            <a:ext cx="3756966" cy="3884082"/>
          </a:xfrm>
          <a:custGeom>
            <a:avLst/>
            <a:gdLst/>
            <a:ahLst/>
            <a:cxnLst/>
            <a:rect l="l" t="t" r="r" b="b"/>
            <a:pathLst>
              <a:path w="3756966" h="3884082">
                <a:moveTo>
                  <a:pt x="0" y="0"/>
                </a:moveTo>
                <a:lnTo>
                  <a:pt x="3756966" y="0"/>
                </a:lnTo>
                <a:lnTo>
                  <a:pt x="3756966" y="3884082"/>
                </a:lnTo>
                <a:lnTo>
                  <a:pt x="0" y="38840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2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3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4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5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6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7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8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9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0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1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2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3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4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5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6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7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8.xml><?xml version="1.0" encoding="utf-8"?>
<p:tagLst xmlns:p="http://schemas.openxmlformats.org/presentationml/2006/main">
  <p:tag name="KSO_WM_DIAGRAM_VIRTUALLY_FRAME" val="{&quot;height&quot;:421.42622047244095,&quot;left&quot;:146.92031496062992,&quot;top&quot;:307.57377952755905,&quot;width&quot;:1146.1594488188978}"/>
</p:tagLst>
</file>

<file path=ppt/tags/tag19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0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1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2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3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4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5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6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7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8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29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0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1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2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3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4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5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6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7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8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ags/tag39.xml><?xml version="1.0" encoding="utf-8"?>
<p:tagLst xmlns:p="http://schemas.openxmlformats.org/presentationml/2006/main">
  <p:tag name="KSO_WM_DIAGRAM_VIRTUALLY_FRAME" val="{&quot;height&quot;:427.8490389991568,&quot;left&quot;:146.9,&quot;top&quot;:301.15102362204726,&quot;width&quot;:1146.17976377952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11169</Words>
  <Application>WPS Presentation</Application>
  <PresentationFormat>On-screen Show (4:3)</PresentationFormat>
  <Paragraphs>297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SimSun</vt:lpstr>
      <vt:lpstr>Wingdings</vt:lpstr>
      <vt:lpstr>Aloja</vt:lpstr>
      <vt:lpstr>Quicksand Medium</vt:lpstr>
      <vt:lpstr>Quicksand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Persuasive Techniques MYP 4 ELL</dc:title>
  <dc:creator/>
  <cp:lastModifiedBy>mRm-Hani</cp:lastModifiedBy>
  <cp:revision>2</cp:revision>
  <dcterms:created xsi:type="dcterms:W3CDTF">2006-08-16T00:00:00Z</dcterms:created>
  <dcterms:modified xsi:type="dcterms:W3CDTF">2026-01-11T17:57:03Z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F9EA3B0E7E6B46729A4C04B60C92E2E1_12</vt:lpwstr>
  </property>
  <property fmtid="{D5CDD505-2E9C-101B-9397-08002B2CF9AE}" pid="3" name="KSOProductBuildVer">
    <vt:lpwstr>1033-12.2.0.23196</vt:lpwstr>
  </property>
</Properties>
</file>